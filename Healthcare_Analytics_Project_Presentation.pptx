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>
        <p:scale>
          <a:sx n="75" d="100"/>
          <a:sy n="75" d="100"/>
        </p:scale>
        <p:origin x="878" y="21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wank Singh" userId="869e4722a81db6c1" providerId="LiveId" clId="{E5A62A5A-47D4-4BC9-9F86-B58A9518055C}"/>
    <pc:docChg chg="custSel modSld">
      <pc:chgData name="Shiwank Singh" userId="869e4722a81db6c1" providerId="LiveId" clId="{E5A62A5A-47D4-4BC9-9F86-B58A9518055C}" dt="2026-10-21T07:38:11.805" v="171" actId="1037"/>
      <pc:docMkLst>
        <pc:docMk/>
      </pc:docMkLst>
      <pc:sldChg chg="delSp modSp mod delAnim">
        <pc:chgData name="Shiwank Singh" userId="869e4722a81db6c1" providerId="LiveId" clId="{E5A62A5A-47D4-4BC9-9F86-B58A9518055C}" dt="2026-10-21T07:38:11.805" v="171" actId="1037"/>
        <pc:sldMkLst>
          <pc:docMk/>
          <pc:sldMk cId="3098548442" sldId="327"/>
        </pc:sldMkLst>
        <pc:spChg chg="del">
          <ac:chgData name="Shiwank Singh" userId="869e4722a81db6c1" providerId="LiveId" clId="{E5A62A5A-47D4-4BC9-9F86-B58A9518055C}" dt="2026-10-21T07:37:26.642" v="62" actId="478"/>
          <ac:spMkLst>
            <pc:docMk/>
            <pc:sldMk cId="3098548442" sldId="327"/>
            <ac:spMk id="2" creationId="{E46E4DD1-270B-4C80-AFF0-EB26F132AF36}"/>
          </ac:spMkLst>
        </pc:spChg>
        <pc:spChg chg="mod">
          <ac:chgData name="Shiwank Singh" userId="869e4722a81db6c1" providerId="LiveId" clId="{E5A62A5A-47D4-4BC9-9F86-B58A9518055C}" dt="2026-10-21T07:38:11.805" v="171" actId="1037"/>
          <ac:spMkLst>
            <pc:docMk/>
            <pc:sldMk cId="3098548442" sldId="327"/>
            <ac:spMk id="17" creationId="{00000000-0000-0000-0000-000000000000}"/>
          </ac:spMkLst>
        </pc:spChg>
        <pc:picChg chg="mod">
          <ac:chgData name="Shiwank Singh" userId="869e4722a81db6c1" providerId="LiveId" clId="{E5A62A5A-47D4-4BC9-9F86-B58A9518055C}" dt="2026-10-21T07:38:01.389" v="135" actId="1076"/>
          <ac:picMkLst>
            <pc:docMk/>
            <pc:sldMk cId="3098548442" sldId="327"/>
            <ac:picMk id="5" creationId="{C8FE02DE-D7B2-433D-BFE4-2F564022AD8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10/21/2026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10/21/2026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3400089" cy="861497"/>
          </a:xfrm>
        </p:spPr>
        <p:txBody>
          <a:bodyPr wrap="square"/>
          <a:lstStyle/>
          <a:p>
            <a:pPr algn="r">
              <a:defRPr sz="2200" b="1">
                <a:solidFill>
                  <a:srgbClr val="FFFFFF"/>
                </a:solidFill>
              </a:defRPr>
            </a:pPr>
            <a:r>
              <a:t>Shiwank Singh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3"/>
            <a:ext cx="4998720" cy="743448"/>
          </a:xfrm>
        </p:spPr>
        <p:txBody>
          <a:bodyPr wrap="square">
            <a:norm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Healthcare Analytics</a:t>
            </a:r>
            <a:br/>
            <a:r>
              <a:t>for Doctor Visits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 wrap="square">
            <a:normAutofit fontScale="90000"/>
          </a:bodyPr>
          <a:lstStyle/>
          <a:p>
            <a:pPr>
              <a:defRPr sz="2800" b="1">
                <a:solidFill>
                  <a:srgbClr val="193C4B"/>
                </a:solidFill>
              </a:defRPr>
            </a:pPr>
            <a:r>
              <a:t>PROBLEM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9810" y="4474115"/>
            <a:ext cx="2016086" cy="23838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3440" y="1228113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D3741"/>
                </a:solidFill>
              </a:defRPr>
            </a:pPr>
            <a:r>
              <a:rPr dirty="0"/>
              <a:t>Healthcare services need evidence to understand patterns in demand. This project explores a dataset of 5,190 records to investigate how the number of reported illnesses, health indicators, age scale, income and healthcare support relate to doctor visits.</a:t>
            </a:r>
          </a:p>
          <a:p>
            <a:pPr>
              <a:spcAft>
                <a:spcPts val="800"/>
              </a:spcAft>
              <a:defRPr sz="2000" b="0">
                <a:solidFill>
                  <a:srgbClr val="2D3741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2D3741"/>
                </a:solidFill>
              </a:defRPr>
            </a:pPr>
            <a:r>
              <a:rPr dirty="0"/>
              <a:t>Problem question: Which recorded factors are associated with higher average doctor visits?</a:t>
            </a:r>
          </a:p>
          <a:p>
            <a:pPr>
              <a:spcAft>
                <a:spcPts val="800"/>
              </a:spcAft>
              <a:defRPr sz="2000" b="0">
                <a:solidFill>
                  <a:srgbClr val="2D3741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2D3741"/>
                </a:solidFill>
              </a:defRPr>
            </a:pPr>
            <a:r>
              <a:rPr dirty="0"/>
              <a:t>The analysis describes patterns in the available data; it does not diagnose patients or prove cause and effect.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 wrap="square">
            <a:normAutofit fontScale="90000"/>
          </a:bodyPr>
          <a:lstStyle/>
          <a:p>
            <a:pPr>
              <a:defRPr sz="2600" b="1">
                <a:solidFill>
                  <a:srgbClr val="193C4B"/>
                </a:solidFill>
              </a:defRPr>
            </a:pPr>
            <a:r>
              <a:t>PROJECT DESCRIPTION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D3741"/>
                </a:solidFill>
              </a:defRPr>
            </a:pPr>
            <a:r>
              <a:t>• Load and inspect the provided healthcare dataset.</a:t>
            </a:r>
          </a:p>
          <a:p>
            <a:pPr>
              <a:spcAft>
                <a:spcPts val="800"/>
              </a:spcAft>
              <a:defRPr sz="1800" b="0">
                <a:solidFill>
                  <a:srgbClr val="2D3741"/>
                </a:solidFill>
              </a:defRPr>
            </a:pPr>
            <a:r>
              <a:t>• Check data types, missing values and duplicate records.</a:t>
            </a:r>
          </a:p>
          <a:p>
            <a:pPr>
              <a:spcAft>
                <a:spcPts val="800"/>
              </a:spcAft>
              <a:defRPr sz="1800" b="0">
                <a:solidFill>
                  <a:srgbClr val="2D3741"/>
                </a:solidFill>
              </a:defRPr>
            </a:pPr>
            <a:r>
              <a:t>• Summarize the distribution of doctor visits.</a:t>
            </a:r>
          </a:p>
          <a:p>
            <a:pPr>
              <a:spcAft>
                <a:spcPts val="800"/>
              </a:spcAft>
              <a:defRPr sz="1800" b="0">
                <a:solidFill>
                  <a:srgbClr val="2D3741"/>
                </a:solidFill>
              </a:defRPr>
            </a:pPr>
            <a:r>
              <a:t>• Compare average visits across illness counts, chronic-condition indicator, gender and age groups.</a:t>
            </a:r>
          </a:p>
          <a:p>
            <a:pPr>
              <a:spcAft>
                <a:spcPts val="800"/>
              </a:spcAft>
              <a:defRPr sz="1800" b="0">
                <a:solidFill>
                  <a:srgbClr val="2D3741"/>
                </a:solidFill>
              </a:defRPr>
            </a:pPr>
            <a:r>
              <a:t>• Examine correlations between visits and selected numeric variables.</a:t>
            </a:r>
          </a:p>
          <a:p>
            <a:pPr>
              <a:spcAft>
                <a:spcPts val="800"/>
              </a:spcAft>
              <a:defRPr sz="1800" b="0">
                <a:solidFill>
                  <a:srgbClr val="2D3741"/>
                </a:solidFill>
              </a:defRPr>
            </a:pPr>
            <a:r>
              <a:t>• Present findings through clear charts and concise observations.</a:t>
            </a:r>
          </a:p>
          <a:p>
            <a:pPr>
              <a:spcAft>
                <a:spcPts val="800"/>
              </a:spcAft>
              <a:defRPr sz="1800" b="0">
                <a:solidFill>
                  <a:srgbClr val="2D3741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 b="0">
                <a:solidFill>
                  <a:srgbClr val="2D3741"/>
                </a:solidFill>
              </a:defRPr>
            </a:pPr>
            <a:r>
              <a:t>Scope: descriptive analysis of the supplied records; no prediction model or clinical recommendations are claimed.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D3741"/>
                </a:solidFill>
              </a:defRPr>
            </a:pPr>
            <a:r>
              <a:t>• Healthcare administrators: understand patterns in service use.</a:t>
            </a:r>
          </a:p>
          <a:p>
            <a:pPr>
              <a:spcAft>
                <a:spcPts val="800"/>
              </a:spcAft>
              <a:defRPr sz="1900" b="0">
                <a:solidFill>
                  <a:srgbClr val="2D3741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900" b="0">
                <a:solidFill>
                  <a:srgbClr val="2D3741"/>
                </a:solidFill>
              </a:defRPr>
            </a:pPr>
            <a:r>
              <a:t>• Public-health students and researchers: explore associations in health-related data.</a:t>
            </a:r>
          </a:p>
          <a:p>
            <a:pPr>
              <a:spcAft>
                <a:spcPts val="800"/>
              </a:spcAft>
              <a:defRPr sz="1900" b="0">
                <a:solidFill>
                  <a:srgbClr val="2D3741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900" b="0">
                <a:solidFill>
                  <a:srgbClr val="2D3741"/>
                </a:solidFill>
              </a:defRPr>
            </a:pPr>
            <a:r>
              <a:t>• Data analytics learners: practice data cleaning, grouping, visualization and interpretation.</a:t>
            </a:r>
          </a:p>
          <a:p>
            <a:pPr>
              <a:spcAft>
                <a:spcPts val="800"/>
              </a:spcAft>
              <a:defRPr sz="1900" b="0">
                <a:solidFill>
                  <a:srgbClr val="2D3741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900" b="0">
                <a:solidFill>
                  <a:srgbClr val="2D3741"/>
                </a:solidFill>
              </a:defRPr>
            </a:pPr>
            <a:r>
              <a:t>• Healthcare planners: use descriptive evidence as a starting point for further investigation.</a:t>
            </a:r>
          </a:p>
          <a:p>
            <a:pPr>
              <a:spcAft>
                <a:spcPts val="800"/>
              </a:spcAft>
              <a:defRPr sz="1900" b="0">
                <a:solidFill>
                  <a:srgbClr val="2D3741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900" b="0">
                <a:solidFill>
                  <a:srgbClr val="2D3741"/>
                </a:solidFill>
              </a:defRPr>
            </a:pPr>
            <a:r>
              <a:t>Note: the dataset is for educational analysis and should not be used to make decisions about an individual patient.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3716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E3C4B"/>
                </a:solidFill>
              </a:defRPr>
            </a:pPr>
            <a:r>
              <a:t>PYTHON</a:t>
            </a:r>
          </a:p>
          <a:p>
            <a:pPr>
              <a:spcAft>
                <a:spcPts val="800"/>
              </a:spcAft>
              <a:defRPr sz="1900" b="1">
                <a:solidFill>
                  <a:srgbClr val="1E3C4B"/>
                </a:solidFill>
              </a:defRPr>
            </a:pPr>
            <a:r>
              <a:t>Data processing and analysis</a:t>
            </a:r>
          </a:p>
          <a:p>
            <a:pPr>
              <a:spcAft>
                <a:spcPts val="800"/>
              </a:spcAft>
              <a:defRPr sz="1900" b="1">
                <a:solidFill>
                  <a:srgbClr val="1E3C4B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900" b="1">
                <a:solidFill>
                  <a:srgbClr val="1E3C4B"/>
                </a:solidFill>
              </a:defRPr>
            </a:pPr>
            <a:r>
              <a:t>PANDAS + NUMPY</a:t>
            </a:r>
          </a:p>
          <a:p>
            <a:pPr>
              <a:spcAft>
                <a:spcPts val="800"/>
              </a:spcAft>
              <a:defRPr sz="1900" b="1">
                <a:solidFill>
                  <a:srgbClr val="1E3C4B"/>
                </a:solidFill>
              </a:defRPr>
            </a:pPr>
            <a:r>
              <a:t>Data loading, cleaning and summaries</a:t>
            </a:r>
          </a:p>
          <a:p>
            <a:pPr>
              <a:spcAft>
                <a:spcPts val="800"/>
              </a:spcAft>
              <a:defRPr sz="1900" b="1">
                <a:solidFill>
                  <a:srgbClr val="1E3C4B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900" b="1">
                <a:solidFill>
                  <a:srgbClr val="1E3C4B"/>
                </a:solidFill>
              </a:defRPr>
            </a:pPr>
            <a:r>
              <a:t>MATPLOTLIB</a:t>
            </a:r>
          </a:p>
          <a:p>
            <a:pPr>
              <a:spcAft>
                <a:spcPts val="800"/>
              </a:spcAft>
              <a:defRPr sz="1900" b="1">
                <a:solidFill>
                  <a:srgbClr val="1E3C4B"/>
                </a:solidFill>
              </a:defRPr>
            </a:pPr>
            <a:r>
              <a:t>Charts and visual exploration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37160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E3C4B"/>
                </a:solidFill>
              </a:defRPr>
            </a:pPr>
            <a:r>
              <a:t>JUPYTER NOTEBOOK</a:t>
            </a:r>
          </a:p>
          <a:p>
            <a:pPr>
              <a:spcAft>
                <a:spcPts val="800"/>
              </a:spcAft>
              <a:defRPr sz="1900" b="1">
                <a:solidFill>
                  <a:srgbClr val="1E3C4B"/>
                </a:solidFill>
              </a:defRPr>
            </a:pPr>
            <a:r>
              <a:t>Reproducible analysis workflow</a:t>
            </a:r>
          </a:p>
          <a:p>
            <a:pPr>
              <a:spcAft>
                <a:spcPts val="800"/>
              </a:spcAft>
              <a:defRPr sz="1900" b="1">
                <a:solidFill>
                  <a:srgbClr val="1E3C4B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900" b="1">
                <a:solidFill>
                  <a:srgbClr val="1E3C4B"/>
                </a:solidFill>
              </a:defRPr>
            </a:pPr>
            <a:r>
              <a:t>CSV DATASET</a:t>
            </a:r>
          </a:p>
          <a:p>
            <a:pPr>
              <a:spcAft>
                <a:spcPts val="800"/>
              </a:spcAft>
              <a:defRPr sz="1900" b="1">
                <a:solidFill>
                  <a:srgbClr val="1E3C4B"/>
                </a:solidFill>
              </a:defRPr>
            </a:pPr>
            <a:r>
              <a:t>5,190 records • 13 columns</a:t>
            </a:r>
          </a:p>
          <a:p>
            <a:pPr>
              <a:spcAft>
                <a:spcPts val="800"/>
              </a:spcAft>
              <a:defRPr sz="1900" b="1">
                <a:solidFill>
                  <a:srgbClr val="1E3C4B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900" b="1">
                <a:solidFill>
                  <a:srgbClr val="1E3C4B"/>
                </a:solidFill>
              </a:defRPr>
            </a:pPr>
            <a:r>
              <a:t>METHODS</a:t>
            </a:r>
          </a:p>
          <a:p>
            <a:pPr>
              <a:spcAft>
                <a:spcPts val="800"/>
              </a:spcAft>
              <a:defRPr sz="1900" b="1">
                <a:solidFill>
                  <a:srgbClr val="1E3C4B"/>
                </a:solidFill>
              </a:defRPr>
            </a:pPr>
            <a:r>
              <a:t>Descriptive statistics, group averages and correlation checks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193C4B"/>
                </a:solidFill>
              </a:defRPr>
            </a:pPr>
            <a:r>
              <a:t>RESULTS &amp; FINDINGS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 sz="1300" b="0">
                <a:solidFill>
                  <a:srgbClr val="1E3C4B"/>
                </a:solidFill>
              </a:defRPr>
            </a:pPr>
            <a:r>
              <a:t>Project files: notebook, dataset and charts are included in the project folder.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wrap="square"/>
          <a:lstStyle/>
          <a:p>
            <a:pPr marL="0" indent="0">
              <a:buNone/>
              <a:defRPr sz="1800" b="1">
                <a:solidFill>
                  <a:srgbClr val="1E3C4B"/>
                </a:solidFill>
              </a:defRPr>
            </a:pPr>
            <a:r>
              <a:t>Key analysis charts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457200" y="12344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C4B"/>
                </a:solidFill>
              </a:defRPr>
            </a:pPr>
            <a:r>
              <a:t>Records analysed: 5,190</a:t>
            </a:r>
          </a:p>
          <a:p>
            <a:pPr>
              <a:spcAft>
                <a:spcPts val="800"/>
              </a:spcAft>
              <a:defRPr sz="1500" b="1">
                <a:solidFill>
                  <a:srgbClr val="1E3C4B"/>
                </a:solidFill>
              </a:defRPr>
            </a:pPr>
            <a:r>
              <a:t>Average visits: 0.302</a:t>
            </a:r>
          </a:p>
          <a:p>
            <a:pPr>
              <a:spcAft>
                <a:spcPts val="800"/>
              </a:spcAft>
              <a:defRPr sz="1500" b="1">
                <a:solidFill>
                  <a:srgbClr val="1E3C4B"/>
                </a:solidFill>
              </a:defRPr>
            </a:pPr>
            <a:r>
              <a:t>Median visits: 0</a:t>
            </a:r>
          </a:p>
          <a:p>
            <a:pPr>
              <a:spcAft>
                <a:spcPts val="800"/>
              </a:spcAft>
              <a:defRPr sz="1500" b="1">
                <a:solidFill>
                  <a:srgbClr val="1E3C4B"/>
                </a:solidFill>
              </a:defRPr>
            </a:pPr>
            <a:r>
              <a:t>Zero visits: 79.8%</a:t>
            </a:r>
          </a:p>
        </p:txBody>
      </p:sp>
      <p:pic>
        <p:nvPicPr>
          <p:cNvPr id="32" name="Picture 31" descr="visi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77440"/>
            <a:ext cx="5212080" cy="2886634"/>
          </a:xfrm>
          <a:prstGeom prst="rect">
            <a:avLst/>
          </a:prstGeom>
        </p:spPr>
      </p:pic>
      <p:pic>
        <p:nvPicPr>
          <p:cNvPr id="33" name="Picture 32" descr="visits_by_illn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377440"/>
            <a:ext cx="5212080" cy="288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anchor="ctr">
            <a:normAutofit fontScale="90000"/>
          </a:bodyPr>
          <a:lstStyle/>
          <a:p>
            <a:pPr algn="ctr">
              <a:defRPr sz="3200" b="1">
                <a:solidFill>
                  <a:srgbClr val="193C4B"/>
                </a:solidFill>
              </a:defRPr>
            </a:pPr>
            <a:r>
              <a:t>Thank You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550</TotalTime>
  <Words>334</Words>
  <Application>Microsoft Office PowerPoint</Application>
  <PresentationFormat>Widescreen</PresentationFormat>
  <Paragraphs>55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Wingdings 3</vt:lpstr>
      <vt:lpstr>Facet</vt:lpstr>
      <vt:lpstr>Healthcare Analytics for Doctor Visits</vt:lpstr>
      <vt:lpstr>PROBLEM STATEMENT</vt:lpstr>
      <vt:lpstr>PROJECT DESCRIPTION</vt:lpstr>
      <vt:lpstr>WHO ARE THE END USERS?</vt:lpstr>
      <vt:lpstr>Technology Used</vt:lpstr>
      <vt:lpstr>RESULTS &amp; FINDINGS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Shiwank Singh</cp:lastModifiedBy>
  <cp:revision>73</cp:revision>
  <dcterms:created xsi:type="dcterms:W3CDTF">2021-07-11T13:13:15Z</dcterms:created>
  <dcterms:modified xsi:type="dcterms:W3CDTF">2026-10-21T07:38:13Z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